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645920"/>
            <a:ext cx="5029200" cy="502920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64008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640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51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SECURE DELIVERY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063240"/>
            <a:ext cx="9875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Secure Delivery</a:t>
            </a:r>
            <a:endParaRPr lang="en-US" sz="44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Tracking System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7091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IoT-based access control and live tracking system for secure last-mile delivery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5349240"/>
            <a:ext cx="109728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5486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ID: PACKAGE_102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With Ordinary Delivery Boxes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1188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373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🔓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5603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real access control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06324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open a standard delivery compartment — there is no way to verify who is actually the driver.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16552" y="1417320"/>
            <a:ext cx="361188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36592" y="17373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36592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736592" y="25603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visibility in transit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736592" y="306324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and dispatchers have no live view of where the package is or whether it is still inside.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84464" y="1417320"/>
            <a:ext cx="361188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04504" y="17373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04504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604504" y="25603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Tampering goes unnoticed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604504" y="306324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compartment opened early, a missing package, or a diverted route is only discovered after delivery fails.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434840"/>
            <a:ext cx="11064240" cy="160020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4400" y="4617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4956048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an NFC access-controlled lock, presence sensing, and live GPS tracking on a Raspberry Pi — all reporting in real time to a dashboard, Telegram, and email, so every stage of the delivery is verified and visible.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FITS TOGETHER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97480" cy="4160520"/>
          </a:xfrm>
          <a:prstGeom prst="roundRect">
            <a:avLst>
              <a:gd name="adj" fmla="val 2712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531620" y="178308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3162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3162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6517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 Layer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3200400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NFC reader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3584448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IR presence sensor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3968496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Servo-controlled lock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4352544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GPS (driver phone)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64408" y="3383280"/>
            <a:ext cx="164592" cy="274320"/>
          </a:xfrm>
          <a:prstGeom prst="rightArrow">
            <a:avLst/>
          </a:prstGeom>
          <a:solidFill>
            <a:srgbClr val="9FB3E8"/>
          </a:solidFill>
          <a:ln/>
        </p:spPr>
      </p:sp>
      <p:sp>
        <p:nvSpPr>
          <p:cNvPr id="14" name="Shape 12"/>
          <p:cNvSpPr/>
          <p:nvPr/>
        </p:nvSpPr>
        <p:spPr>
          <a:xfrm>
            <a:off x="3447288" y="1508760"/>
            <a:ext cx="2697480" cy="4160520"/>
          </a:xfrm>
          <a:prstGeom prst="roundRect">
            <a:avLst>
              <a:gd name="adj" fmla="val 2712"/>
            </a:avLst>
          </a:prstGeom>
          <a:solidFill>
            <a:srgbClr val="2F3C7E"/>
          </a:solidFill>
          <a:ln/>
        </p:spPr>
      </p:sp>
      <p:sp>
        <p:nvSpPr>
          <p:cNvPr id="15" name="Shape 13"/>
          <p:cNvSpPr/>
          <p:nvPr/>
        </p:nvSpPr>
        <p:spPr>
          <a:xfrm>
            <a:off x="4430268" y="178308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430268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430268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💻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3584448" y="26517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Layer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3648456" y="3200400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Raspberry Pi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3648456" y="3584448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Local decision logic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648456" y="3968496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Auto-lock timers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3648456" y="4352544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Works offline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63056" y="3383280"/>
            <a:ext cx="164592" cy="274320"/>
          </a:xfrm>
          <a:prstGeom prst="rightArrow">
            <a:avLst/>
          </a:prstGeom>
          <a:solidFill>
            <a:srgbClr val="9FB3E8"/>
          </a:solidFill>
          <a:ln/>
        </p:spPr>
      </p:sp>
      <p:sp>
        <p:nvSpPr>
          <p:cNvPr id="24" name="Shape 22"/>
          <p:cNvSpPr/>
          <p:nvPr/>
        </p:nvSpPr>
        <p:spPr>
          <a:xfrm>
            <a:off x="6345936" y="1508760"/>
            <a:ext cx="2697480" cy="4160520"/>
          </a:xfrm>
          <a:prstGeom prst="roundRect">
            <a:avLst>
              <a:gd name="adj" fmla="val 2712"/>
            </a:avLst>
          </a:prstGeom>
          <a:solidFill>
            <a:srgbClr val="3E52A3"/>
          </a:solidFill>
          <a:ln/>
        </p:spPr>
      </p:sp>
      <p:sp>
        <p:nvSpPr>
          <p:cNvPr id="25" name="Shape 23"/>
          <p:cNvSpPr/>
          <p:nvPr/>
        </p:nvSpPr>
        <p:spPr>
          <a:xfrm>
            <a:off x="7328916" y="178308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328916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7328916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☁️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6483096" y="26517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Layer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547104" y="3200400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MQTT broker (HiveMQ)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547104" y="3584448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Real-time pub/sub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547104" y="3968496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Secure TLS link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061704" y="3383280"/>
            <a:ext cx="164592" cy="274320"/>
          </a:xfrm>
          <a:prstGeom prst="rightArrow">
            <a:avLst/>
          </a:prstGeom>
          <a:solidFill>
            <a:srgbClr val="9FB3E8"/>
          </a:solidFill>
          <a:ln/>
        </p:spPr>
      </p:sp>
      <p:sp>
        <p:nvSpPr>
          <p:cNvPr id="33" name="Shape 31"/>
          <p:cNvSpPr/>
          <p:nvPr/>
        </p:nvSpPr>
        <p:spPr>
          <a:xfrm>
            <a:off x="9244584" y="1508760"/>
            <a:ext cx="2697480" cy="4160520"/>
          </a:xfrm>
          <a:prstGeom prst="roundRect">
            <a:avLst>
              <a:gd name="adj" fmla="val 2712"/>
            </a:avLst>
          </a:prstGeom>
          <a:solidFill>
            <a:srgbClr val="4F66C4"/>
          </a:solidFill>
          <a:ln/>
        </p:spPr>
      </p:sp>
      <p:sp>
        <p:nvSpPr>
          <p:cNvPr id="34" name="Shape 32"/>
          <p:cNvSpPr/>
          <p:nvPr/>
        </p:nvSpPr>
        <p:spPr>
          <a:xfrm>
            <a:off x="10227564" y="178308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10227564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10227564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37" name="Text 35"/>
          <p:cNvSpPr txBox="1"/>
          <p:nvPr/>
        </p:nvSpPr>
        <p:spPr>
          <a:xfrm>
            <a:off x="9381744" y="26517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Layer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9445752" y="3200400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Node-RED dashboard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9445752" y="3584448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Live map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9445752" y="3968496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Telegram bot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9445752" y="4352544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Email alerts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 left to right on delivery events, and right to left on manual overrides (Unlock / Lock) from the dashboard.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INSIDE THE BOX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Components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67335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673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📶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655064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NFC Reader (PN532)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0116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the driver card vs. the package tag vs. any unknown card.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150876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62272" y="167335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62272" y="1673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166360" y="1655064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 Presence Sensor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5166360" y="20116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the package is physically inside the compartment at all times.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0" y="150876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11312" y="167335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11312" y="1673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915400" y="1655064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Servo-Controlled Lock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8915400" y="20116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Physically opens and locks the compartment door on command.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06324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" y="322783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13232" y="3227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3209544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LED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1417320" y="356616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when unlocked, fast-blinking as a visual alarm on security events.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97680" y="306324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62272" y="322783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462272" y="3227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5166360" y="3209544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Raspberry Pi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5166360" y="356616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control logic and publishes every event over MQTT.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46720" y="306324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11312" y="322783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211312" y="3227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8915400" y="3209544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GPS (OwnTracks)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8915400" y="356616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 live driver location for geofencing and route tracking.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470916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14400" y="487375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Connected Through One Raspberry Pi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914400" y="52120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 reads the NFC reader and IR sensor, drives the servo and LED directly over GPIO, and publishes every state change to the cloud over MQTT — so the physical hardware and the software dashboard always agree.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HAPPY PATH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 Delivery Flow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2743200"/>
            <a:ext cx="9966960" cy="0"/>
          </a:xfrm>
          <a:prstGeom prst="line">
            <a:avLst/>
          </a:prstGeom>
          <a:noFill/>
          <a:ln w="25400">
            <a:solidFill>
              <a:srgbClr val="C7CE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194560"/>
            <a:ext cx="1097280" cy="1097280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1945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945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🪪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353312" y="2103120"/>
            <a:ext cx="384048" cy="384048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53312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28600" y="34290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Driver Scans Card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37160" y="3913632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 NFC card is recognized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42032" y="2194560"/>
            <a:ext cx="1097280" cy="1097280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542032" y="21945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542032" y="21945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🔓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3346704" y="2103120"/>
            <a:ext cx="384048" cy="384048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346704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221992" y="34290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Door Opens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130552" y="3913632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unlocks; a 10s loading timer starts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35424" y="2194560"/>
            <a:ext cx="1097280" cy="1097280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35424" y="21945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4535424" y="21945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📦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5340096" y="2103120"/>
            <a:ext cx="384048" cy="384048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340096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215384" y="34290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Package Loaded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123944" y="3913632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tag detected inside the window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528816" y="2194560"/>
            <a:ext cx="1097280" cy="1097280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528816" y="21945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6528816" y="21945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🔒</a:t>
            </a:r>
            <a:endParaRPr lang="en-US" sz="3000" dirty="0"/>
          </a:p>
        </p:txBody>
      </p:sp>
      <p:sp>
        <p:nvSpPr>
          <p:cNvPr id="29" name="Shape 27"/>
          <p:cNvSpPr/>
          <p:nvPr/>
        </p:nvSpPr>
        <p:spPr>
          <a:xfrm>
            <a:off x="7333488" y="2103120"/>
            <a:ext cx="384048" cy="384048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333488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208776" y="34290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Auto-Lock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117336" y="3913632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5s the compartment locks itself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522208" y="2194560"/>
            <a:ext cx="1097280" cy="1097280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522208" y="21945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8522208" y="21945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🚚</a:t>
            </a:r>
            <a:endParaRPr lang="en-US" sz="3000" dirty="0"/>
          </a:p>
        </p:txBody>
      </p:sp>
      <p:sp>
        <p:nvSpPr>
          <p:cNvPr id="36" name="Shape 34"/>
          <p:cNvSpPr/>
          <p:nvPr/>
        </p:nvSpPr>
        <p:spPr>
          <a:xfrm>
            <a:off x="9326880" y="2103120"/>
            <a:ext cx="384048" cy="384048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326880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8202168" y="34290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Transit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8110728" y="3913632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+ IR monitor the shipment live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10515600" y="2194560"/>
            <a:ext cx="1097280" cy="1097280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10515600" y="21945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42" name="Text 40"/>
          <p:cNvSpPr txBox="1"/>
          <p:nvPr/>
        </p:nvSpPr>
        <p:spPr>
          <a:xfrm>
            <a:off x="10515600" y="21945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🏁</a:t>
            </a:r>
            <a:endParaRPr lang="en-US" sz="3000" dirty="0"/>
          </a:p>
        </p:txBody>
      </p:sp>
      <p:sp>
        <p:nvSpPr>
          <p:cNvPr id="43" name="Shape 41"/>
          <p:cNvSpPr/>
          <p:nvPr/>
        </p:nvSpPr>
        <p:spPr>
          <a:xfrm>
            <a:off x="11320272" y="2103120"/>
            <a:ext cx="384048" cy="384048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1320272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10195560" y="34290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Arrived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10104120" y="3913632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Geofence confirms arrival at destination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48640" y="53949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E9F3EC"/>
          </a:solidFill>
          <a:ln w="12700">
            <a:solidFill>
              <a:srgbClr val="1E8E5A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22960" y="53949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1E5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above publishes a status update over MQTT — the dashboard, Telegram, and map update within a second of the physical event.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PICTURE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System Flow — All Scenarios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818120" y="38404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E7EAF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55864" y="34747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869680" y="38404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C77A1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07424" y="34747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9921240" y="38404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E8E5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158984" y="34747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0972800" y="38404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C0392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210544" y="34747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29000" y="1371600"/>
            <a:ext cx="1691640" cy="548640"/>
          </a:xfrm>
          <a:prstGeom prst="roundRect">
            <a:avLst>
              <a:gd name="adj" fmla="val 10000"/>
            </a:avLst>
          </a:prstGeom>
          <a:solidFill>
            <a:srgbClr val="FBE1DE"/>
          </a:solidFill>
          <a:ln w="12700">
            <a:solidFill>
              <a:srgbClr val="C7CEE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74720" y="13716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Alert</a:t>
            </a:r>
            <a:endParaRPr lang="en-US" sz="9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(Telegram)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120640" y="1645920"/>
            <a:ext cx="365760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486400" y="1234440"/>
            <a:ext cx="1188720" cy="822960"/>
          </a:xfrm>
          <a:prstGeom prst="diamond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349240" y="12344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3</a:t>
            </a:r>
            <a:endParaRPr lang="en-US" sz="860" dirty="0"/>
          </a:p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Attempts?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6675120" y="1645920"/>
            <a:ext cx="365760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6720840" y="1417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040880" y="1371600"/>
            <a:ext cx="1737360" cy="548640"/>
          </a:xfrm>
          <a:prstGeom prst="roundRect">
            <a:avLst>
              <a:gd name="adj" fmla="val 10000"/>
            </a:avLst>
          </a:prstGeom>
          <a:solidFill>
            <a:srgbClr val="FBE1DE"/>
          </a:solidFill>
          <a:ln w="12700">
            <a:solidFill>
              <a:srgbClr val="C7CEE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086600" y="1371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Email</a:t>
            </a:r>
            <a:endParaRPr lang="en-US" sz="9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080760" y="2057400"/>
            <a:ext cx="914" cy="27432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6144768" y="21031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257800" y="2331720"/>
            <a:ext cx="1645920" cy="457200"/>
          </a:xfrm>
          <a:prstGeom prst="roundRect">
            <a:avLst>
              <a:gd name="adj" fmla="val 12000"/>
            </a:avLst>
          </a:prstGeom>
          <a:solidFill>
            <a:srgbClr val="E7EAF3"/>
          </a:solidFill>
          <a:ln w="12700">
            <a:solidFill>
              <a:srgbClr val="C7CEE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303520" y="23317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Monitoring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0040" y="3246120"/>
            <a:ext cx="1280160" cy="548640"/>
          </a:xfrm>
          <a:prstGeom prst="roundRect">
            <a:avLst>
              <a:gd name="adj" fmla="val 10000"/>
            </a:avLst>
          </a:prstGeom>
          <a:solidFill>
            <a:srgbClr val="E7EAF3"/>
          </a:solidFill>
          <a:ln w="12700">
            <a:solidFill>
              <a:srgbClr val="C7CEE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65760" y="32461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NFC Card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600200" y="3520440"/>
            <a:ext cx="228600" cy="0"/>
          </a:xfrm>
          <a:prstGeom prst="line">
            <a:avLst/>
          </a:prstGeom>
          <a:noFill/>
          <a:ln w="19050">
            <a:solidFill>
              <a:srgbClr val="8892B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828800" y="3017520"/>
            <a:ext cx="1188720" cy="1005840"/>
          </a:xfrm>
          <a:prstGeom prst="diamond">
            <a:avLst/>
          </a:prstGeom>
          <a:solidFill>
            <a:srgbClr val="C77A1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691640" y="301752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UID?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 flipV="1">
            <a:off x="2423160" y="1645920"/>
            <a:ext cx="914" cy="137160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2423160" y="1645920"/>
            <a:ext cx="1005840" cy="914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32" name="Text 30"/>
          <p:cNvSpPr txBox="1"/>
          <p:nvPr/>
        </p:nvSpPr>
        <p:spPr>
          <a:xfrm>
            <a:off x="2468880" y="2468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017520" y="3520440"/>
            <a:ext cx="320040" cy="0"/>
          </a:xfrm>
          <a:prstGeom prst="line">
            <a:avLst/>
          </a:prstGeom>
          <a:noFill/>
          <a:ln w="19050">
            <a:solidFill>
              <a:srgbClr val="1E8E5A"/>
            </a:solidFill>
            <a:prstDash val="solid"/>
            <a:tailEnd type="triangle"/>
          </a:ln>
        </p:spPr>
      </p:sp>
      <p:sp>
        <p:nvSpPr>
          <p:cNvPr id="34" name="Text 32"/>
          <p:cNvSpPr txBox="1"/>
          <p:nvPr/>
        </p:nvSpPr>
        <p:spPr>
          <a:xfrm>
            <a:off x="3035808" y="32461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337560" y="3017520"/>
            <a:ext cx="1188720" cy="1005840"/>
          </a:xfrm>
          <a:prstGeom prst="diamond">
            <a:avLst/>
          </a:prstGeom>
          <a:solidFill>
            <a:srgbClr val="C77A1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3200400" y="301752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or</a:t>
            </a:r>
            <a:endParaRPr lang="en-US" sz="860" dirty="0"/>
          </a:p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Package?</a:t>
            </a:r>
            <a:endParaRPr lang="en-US" sz="860" dirty="0"/>
          </a:p>
        </p:txBody>
      </p:sp>
      <p:sp>
        <p:nvSpPr>
          <p:cNvPr id="37" name="Shape 35"/>
          <p:cNvSpPr/>
          <p:nvPr/>
        </p:nvSpPr>
        <p:spPr>
          <a:xfrm>
            <a:off x="3931920" y="4023360"/>
            <a:ext cx="914" cy="32004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8" name="Text 36"/>
          <p:cNvSpPr txBox="1"/>
          <p:nvPr/>
        </p:nvSpPr>
        <p:spPr>
          <a:xfrm>
            <a:off x="3977640" y="39776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Pkg only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063240" y="4343400"/>
            <a:ext cx="1737360" cy="502920"/>
          </a:xfrm>
          <a:prstGeom prst="roundRect">
            <a:avLst>
              <a:gd name="adj" fmla="val 10909"/>
            </a:avLst>
          </a:prstGeom>
          <a:solidFill>
            <a:srgbClr val="E7EAF3"/>
          </a:solidFill>
          <a:ln w="12700">
            <a:solidFill>
              <a:srgbClr val="C7CEE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108960" y="43434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Only —</a:t>
            </a:r>
            <a:endParaRPr lang="en-US" sz="83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Stays Closed</a:t>
            </a:r>
            <a:endParaRPr lang="en-US" sz="830" dirty="0"/>
          </a:p>
        </p:txBody>
      </p:sp>
      <p:sp>
        <p:nvSpPr>
          <p:cNvPr id="41" name="Shape 39"/>
          <p:cNvSpPr/>
          <p:nvPr/>
        </p:nvSpPr>
        <p:spPr>
          <a:xfrm>
            <a:off x="4526280" y="3520440"/>
            <a:ext cx="320040" cy="0"/>
          </a:xfrm>
          <a:prstGeom prst="line">
            <a:avLst/>
          </a:prstGeom>
          <a:noFill/>
          <a:ln w="19050">
            <a:solidFill>
              <a:srgbClr val="1E8E5A"/>
            </a:solidFill>
            <a:prstDash val="solid"/>
            <a:tailEnd type="triangle"/>
          </a:ln>
        </p:spPr>
      </p:sp>
      <p:sp>
        <p:nvSpPr>
          <p:cNvPr id="42" name="Text 40"/>
          <p:cNvSpPr txBox="1"/>
          <p:nvPr/>
        </p:nvSpPr>
        <p:spPr>
          <a:xfrm>
            <a:off x="4544568" y="32461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846320" y="3246120"/>
            <a:ext cx="1554480" cy="548640"/>
          </a:xfrm>
          <a:prstGeom prst="roundRect">
            <a:avLst>
              <a:gd name="adj" fmla="val 10000"/>
            </a:avLst>
          </a:prstGeom>
          <a:solidFill>
            <a:srgbClr val="E7EAF3"/>
          </a:solidFill>
          <a:ln w="12700">
            <a:solidFill>
              <a:srgbClr val="C7CEE3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892040" y="32461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7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Opens —</a:t>
            </a:r>
            <a:endParaRPr lang="en-US" sz="87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7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10s Loading Timer</a:t>
            </a:r>
            <a:endParaRPr lang="en-US" sz="870" dirty="0"/>
          </a:p>
        </p:txBody>
      </p:sp>
      <p:sp>
        <p:nvSpPr>
          <p:cNvPr id="45" name="Shape 43"/>
          <p:cNvSpPr/>
          <p:nvPr/>
        </p:nvSpPr>
        <p:spPr>
          <a:xfrm>
            <a:off x="6400800" y="3520440"/>
            <a:ext cx="320040" cy="0"/>
          </a:xfrm>
          <a:prstGeom prst="line">
            <a:avLst/>
          </a:prstGeom>
          <a:noFill/>
          <a:ln w="19050">
            <a:solidFill>
              <a:srgbClr val="8892B0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6720840" y="3017520"/>
            <a:ext cx="1188720" cy="1005840"/>
          </a:xfrm>
          <a:prstGeom prst="diamond">
            <a:avLst/>
          </a:prstGeom>
          <a:solidFill>
            <a:srgbClr val="C77A1E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6583680" y="301752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Time?</a:t>
            </a:r>
            <a:endParaRPr lang="en-US" sz="880" dirty="0"/>
          </a:p>
        </p:txBody>
      </p:sp>
      <p:sp>
        <p:nvSpPr>
          <p:cNvPr id="48" name="Shape 46"/>
          <p:cNvSpPr/>
          <p:nvPr/>
        </p:nvSpPr>
        <p:spPr>
          <a:xfrm>
            <a:off x="7909560" y="3520440"/>
            <a:ext cx="320040" cy="0"/>
          </a:xfrm>
          <a:prstGeom prst="line">
            <a:avLst/>
          </a:prstGeom>
          <a:noFill/>
          <a:ln w="19050">
            <a:solidFill>
              <a:srgbClr val="1E8E5A"/>
            </a:solidFill>
            <a:prstDash val="solid"/>
            <a:tailEnd type="triangle"/>
          </a:ln>
        </p:spPr>
      </p:sp>
      <p:sp>
        <p:nvSpPr>
          <p:cNvPr id="49" name="Text 47"/>
          <p:cNvSpPr txBox="1"/>
          <p:nvPr/>
        </p:nvSpPr>
        <p:spPr>
          <a:xfrm>
            <a:off x="7927848" y="32461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8229600" y="3246120"/>
            <a:ext cx="1920240" cy="548640"/>
          </a:xfrm>
          <a:prstGeom prst="roundRect">
            <a:avLst>
              <a:gd name="adj" fmla="val 10000"/>
            </a:avLst>
          </a:prstGeom>
          <a:solidFill>
            <a:srgbClr val="DCF3E4"/>
          </a:solidFill>
          <a:ln w="12700">
            <a:solidFill>
              <a:srgbClr val="C7CEE3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275320" y="32461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70" b="1" dirty="0">
                <a:solidFill>
                  <a:srgbClr val="1E5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5s Timer → Auto-Lock</a:t>
            </a:r>
            <a:endParaRPr lang="en-US" sz="87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70" b="1" dirty="0">
                <a:solidFill>
                  <a:srgbClr val="1E5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 Transit</a:t>
            </a:r>
            <a:endParaRPr lang="en-US" sz="870" dirty="0"/>
          </a:p>
        </p:txBody>
      </p:sp>
      <p:sp>
        <p:nvSpPr>
          <p:cNvPr id="52" name="Shape 50"/>
          <p:cNvSpPr/>
          <p:nvPr/>
        </p:nvSpPr>
        <p:spPr>
          <a:xfrm>
            <a:off x="7315200" y="4023360"/>
            <a:ext cx="914" cy="32004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53" name="Text 51"/>
          <p:cNvSpPr txBox="1"/>
          <p:nvPr/>
        </p:nvSpPr>
        <p:spPr>
          <a:xfrm>
            <a:off x="7360920" y="39776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(10s up)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355080" y="4343400"/>
            <a:ext cx="1920240" cy="548640"/>
          </a:xfrm>
          <a:prstGeom prst="roundRect">
            <a:avLst>
              <a:gd name="adj" fmla="val 10000"/>
            </a:avLst>
          </a:prstGeom>
          <a:solidFill>
            <a:srgbClr val="FBE1DE"/>
          </a:solidFill>
          <a:ln w="12700">
            <a:solidFill>
              <a:srgbClr val="C7CEE3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6400800" y="43434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Auto-Lock — Security</a:t>
            </a:r>
            <a:endParaRPr lang="en-US" sz="8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+ Email Sent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9189720" y="3794760"/>
            <a:ext cx="914" cy="128016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none"/>
          </a:ln>
        </p:spPr>
      </p:sp>
      <p:sp>
        <p:nvSpPr>
          <p:cNvPr id="57" name="Shape 55"/>
          <p:cNvSpPr/>
          <p:nvPr/>
        </p:nvSpPr>
        <p:spPr>
          <a:xfrm flipH="1">
            <a:off x="4434840" y="5074920"/>
            <a:ext cx="4754880" cy="91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none"/>
          </a:ln>
        </p:spPr>
      </p:sp>
      <p:sp>
        <p:nvSpPr>
          <p:cNvPr id="58" name="Shape 56"/>
          <p:cNvSpPr/>
          <p:nvPr/>
        </p:nvSpPr>
        <p:spPr>
          <a:xfrm>
            <a:off x="4434840" y="5074920"/>
            <a:ext cx="914" cy="27432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9189720" y="3794760"/>
            <a:ext cx="914" cy="128016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none"/>
          </a:ln>
        </p:spPr>
      </p:sp>
      <p:sp>
        <p:nvSpPr>
          <p:cNvPr id="60" name="Shape 58"/>
          <p:cNvSpPr/>
          <p:nvPr/>
        </p:nvSpPr>
        <p:spPr>
          <a:xfrm flipH="1">
            <a:off x="7452360" y="5074920"/>
            <a:ext cx="1737360" cy="91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none"/>
          </a:ln>
        </p:spPr>
      </p:sp>
      <p:sp>
        <p:nvSpPr>
          <p:cNvPr id="61" name="Shape 59"/>
          <p:cNvSpPr/>
          <p:nvPr/>
        </p:nvSpPr>
        <p:spPr>
          <a:xfrm>
            <a:off x="7452360" y="5074920"/>
            <a:ext cx="914" cy="27432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3749040" y="5349240"/>
            <a:ext cx="1371600" cy="914400"/>
          </a:xfrm>
          <a:prstGeom prst="diamond">
            <a:avLst/>
          </a:prstGeom>
          <a:solidFill>
            <a:srgbClr val="C77A1E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3611880" y="53492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</a:t>
            </a:r>
            <a:endParaRPr lang="en-US" sz="840" dirty="0"/>
          </a:p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 &gt;10s?</a:t>
            </a:r>
            <a:endParaRPr lang="en-US" sz="840" dirty="0"/>
          </a:p>
        </p:txBody>
      </p:sp>
      <p:sp>
        <p:nvSpPr>
          <p:cNvPr id="64" name="Shape 62"/>
          <p:cNvSpPr/>
          <p:nvPr/>
        </p:nvSpPr>
        <p:spPr>
          <a:xfrm>
            <a:off x="2331720" y="5760720"/>
            <a:ext cx="1417320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65" name="Text 63"/>
          <p:cNvSpPr txBox="1"/>
          <p:nvPr/>
        </p:nvSpPr>
        <p:spPr>
          <a:xfrm>
            <a:off x="2697480" y="55321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365760" y="5486400"/>
            <a:ext cx="1965960" cy="548640"/>
          </a:xfrm>
          <a:prstGeom prst="roundRect">
            <a:avLst>
              <a:gd name="adj" fmla="val 10000"/>
            </a:avLst>
          </a:prstGeom>
          <a:solidFill>
            <a:srgbClr val="FBE1DE"/>
          </a:solidFill>
          <a:ln w="12700">
            <a:solidFill>
              <a:srgbClr val="C7CEE3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411480" y="54864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Missing —</a:t>
            </a:r>
            <a:endParaRPr lang="en-US" sz="8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+ Email</a:t>
            </a:r>
            <a:endParaRPr lang="en-US" sz="850" dirty="0"/>
          </a:p>
        </p:txBody>
      </p:sp>
      <p:sp>
        <p:nvSpPr>
          <p:cNvPr id="68" name="Text 66"/>
          <p:cNvSpPr txBox="1"/>
          <p:nvPr/>
        </p:nvSpPr>
        <p:spPr>
          <a:xfrm>
            <a:off x="3566160" y="63276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sensor, checked only while IN_TRANSIT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6766560" y="5349240"/>
            <a:ext cx="1371600" cy="914400"/>
          </a:xfrm>
          <a:prstGeom prst="diamond">
            <a:avLst/>
          </a:prstGeom>
          <a:solidFill>
            <a:srgbClr val="C77A1E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6629400" y="53492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Geofence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Radius?</a:t>
            </a:r>
            <a:endParaRPr lang="en-US" sz="820" dirty="0"/>
          </a:p>
        </p:txBody>
      </p:sp>
      <p:sp>
        <p:nvSpPr>
          <p:cNvPr id="71" name="Shape 69"/>
          <p:cNvSpPr/>
          <p:nvPr/>
        </p:nvSpPr>
        <p:spPr>
          <a:xfrm>
            <a:off x="8138160" y="5760720"/>
            <a:ext cx="914400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72" name="Text 70"/>
          <p:cNvSpPr txBox="1"/>
          <p:nvPr/>
        </p:nvSpPr>
        <p:spPr>
          <a:xfrm>
            <a:off x="8183880" y="55321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9052560" y="5486400"/>
            <a:ext cx="2148840" cy="548640"/>
          </a:xfrm>
          <a:prstGeom prst="roundRect">
            <a:avLst>
              <a:gd name="adj" fmla="val 10000"/>
            </a:avLst>
          </a:prstGeom>
          <a:solidFill>
            <a:srgbClr val="FBE1DE"/>
          </a:solidFill>
          <a:ln w="12700">
            <a:solidFill>
              <a:srgbClr val="C7CEE3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9098280" y="54864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Deviation —</a:t>
            </a:r>
            <a:endParaRPr lang="en-US" sz="8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+ Email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 flipV="1">
            <a:off x="7452360" y="5047488"/>
            <a:ext cx="914" cy="301752"/>
          </a:xfrm>
          <a:prstGeom prst="line">
            <a:avLst/>
          </a:prstGeom>
          <a:noFill/>
          <a:ln w="19050">
            <a:solidFill>
              <a:srgbClr val="1E8E5A"/>
            </a:solidFill>
            <a:prstDash val="solid"/>
            <a:tailEnd type="none"/>
          </a:ln>
        </p:spPr>
      </p:sp>
      <p:sp>
        <p:nvSpPr>
          <p:cNvPr id="76" name="Shape 74"/>
          <p:cNvSpPr/>
          <p:nvPr/>
        </p:nvSpPr>
        <p:spPr>
          <a:xfrm>
            <a:off x="7452360" y="5047488"/>
            <a:ext cx="2331720" cy="914"/>
          </a:xfrm>
          <a:prstGeom prst="line">
            <a:avLst/>
          </a:prstGeom>
          <a:noFill/>
          <a:ln w="19050">
            <a:solidFill>
              <a:srgbClr val="1E8E5A"/>
            </a:solidFill>
            <a:prstDash val="solid"/>
            <a:tailEnd type="none"/>
          </a:ln>
        </p:spPr>
      </p:sp>
      <p:sp>
        <p:nvSpPr>
          <p:cNvPr id="77" name="Shape 75"/>
          <p:cNvSpPr/>
          <p:nvPr/>
        </p:nvSpPr>
        <p:spPr>
          <a:xfrm>
            <a:off x="9784080" y="5047488"/>
            <a:ext cx="914" cy="210312"/>
          </a:xfrm>
          <a:prstGeom prst="line">
            <a:avLst/>
          </a:prstGeom>
          <a:noFill/>
          <a:ln w="19050">
            <a:solidFill>
              <a:srgbClr val="1E8E5A"/>
            </a:solidFill>
            <a:prstDash val="solid"/>
            <a:tailEnd type="triangle"/>
          </a:ln>
        </p:spPr>
      </p:sp>
      <p:sp>
        <p:nvSpPr>
          <p:cNvPr id="78" name="Text 76"/>
          <p:cNvSpPr txBox="1"/>
          <p:nvPr/>
        </p:nvSpPr>
        <p:spPr>
          <a:xfrm>
            <a:off x="7498080" y="479145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9052560" y="4828032"/>
            <a:ext cx="1463040" cy="411480"/>
          </a:xfrm>
          <a:prstGeom prst="roundRect">
            <a:avLst>
              <a:gd name="adj" fmla="val 13333"/>
            </a:avLst>
          </a:prstGeom>
          <a:solidFill>
            <a:srgbClr val="DCF3E4"/>
          </a:solidFill>
          <a:ln w="12700">
            <a:solidFill>
              <a:srgbClr val="C7CEE3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9098280" y="482803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1E5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Arrived ✅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SOMETHING'S WRONG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Exception Scenarios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19072"/>
            <a:ext cx="594360" cy="5943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7190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69164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Unknown Card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176272"/>
            <a:ext cx="4160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UID that isn’t the driver’s or the package’s triggers an instant Telegram alert. The LED blinks as a physical alarm; the 3rd repeat attempt escalates to a critical email.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46304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1719072"/>
            <a:ext cx="594360" cy="594360"/>
          </a:xfrm>
          <a:prstGeom prst="ellipse">
            <a:avLst/>
          </a:prstGeom>
          <a:solidFill>
            <a:srgbClr val="C77A1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46520" y="17190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169164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Opened Without Loading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178040" y="2176272"/>
            <a:ext cx="4160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driver opens the door but no package is scanned within 10 seconds, the system auto-locks itself and immediately emails a critical alert — no waiting for a repeat.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050792"/>
            <a:ext cx="594360" cy="5943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0507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02336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Package Missing in Transit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507992"/>
            <a:ext cx="4160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IR sensor watches for the package only while the shipment is IN_TRANSIT. If it’s absent for more than 10 seconds, a missing-package alert and email fire right away.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379476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4050792"/>
            <a:ext cx="594360" cy="594360"/>
          </a:xfrm>
          <a:prstGeom prst="ellipse">
            <a:avLst/>
          </a:prstGeom>
          <a:solidFill>
            <a:srgbClr val="C77A1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46520" y="40507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402336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Deviation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4507992"/>
            <a:ext cx="4160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GPS is checked against the destination geofence. A serious deviation from the expected route sends a one-time alert and email so dispatch can intervene.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IT RIGHT NOW?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Tracking &amp; Geofencing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035040" cy="4480560"/>
          </a:xfrm>
          <a:prstGeom prst="roundRect">
            <a:avLst>
              <a:gd name="adj" fmla="val 1633"/>
            </a:avLst>
          </a:prstGeom>
          <a:solidFill>
            <a:srgbClr val="E4EAF5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Live Worldmap (Node-RED)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188720" y="5120640"/>
            <a:ext cx="2377440" cy="-2377440"/>
          </a:xfrm>
          <a:prstGeom prst="line">
            <a:avLst/>
          </a:prstGeom>
          <a:noFill/>
          <a:ln w="38100">
            <a:solidFill>
              <a:srgbClr val="5B7FD6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3566160" y="2743200"/>
            <a:ext cx="2011680" cy="822960"/>
          </a:xfrm>
          <a:prstGeom prst="line">
            <a:avLst/>
          </a:prstGeom>
          <a:noFill/>
          <a:ln w="38100">
            <a:solidFill>
              <a:srgbClr val="5B7FD6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960120" y="4892040"/>
            <a:ext cx="457200" cy="457200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🚚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5367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349240" y="24231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34924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🏁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28986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1737360"/>
            <a:ext cx="2103120" cy="2103120"/>
          </a:xfrm>
          <a:prstGeom prst="ellipse">
            <a:avLst/>
          </a:prstGeom>
          <a:solidFill>
            <a:srgbClr val="5B7FD6">
              <a:alpha val="12000"/>
            </a:srgbClr>
          </a:solidFill>
          <a:ln w="19050">
            <a:solidFill>
              <a:srgbClr val="5B7FD6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3931920" y="23317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B7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geofence radius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858000" y="1600200"/>
            <a:ext cx="128016" cy="128016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086600" y="14813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Location Source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7086600" y="1801368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driver’s phone streams GPS via OwnTracks to the same MQTT broker.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0" y="2651760"/>
            <a:ext cx="128016" cy="128016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086600" y="25328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Geofence Check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7086600" y="2852928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location update is compared against the destination coordinates and a set radius.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58000" y="3703320"/>
            <a:ext cx="128016" cy="128016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086600" y="35844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Arrival Detection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7086600" y="3904488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vehicle enters the radius while IN_TRANSIT, status flips to ARRIVED and the team is notified.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58000" y="4754880"/>
            <a:ext cx="128016" cy="128016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086600" y="46360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Deviation Alert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7086600" y="4956048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Straying far off the expected route triggers a one-time route-deviation alert and email.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STAYING IN THE LOOP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Dashboard, Telegram Bot &amp; Alerts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66160" cy="44805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Node-RED Dashboard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2103120"/>
            <a:ext cx="3017520" cy="2194560"/>
          </a:xfrm>
          <a:prstGeom prst="roundRect">
            <a:avLst>
              <a:gd name="adj" fmla="val 4167"/>
            </a:avLst>
          </a:prstGeom>
          <a:solidFill>
            <a:srgbClr val="F4F6F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2402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📦 PACKAGE_102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05840" y="260604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1E8E5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05840" y="26060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IN_TRANSIT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0632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Lock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2468880" y="3063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33558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Present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2468880" y="33558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36484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Location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2468880" y="36484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31.22, 30.51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394106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Attempts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2468880" y="394106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22960" y="4434840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1E8E5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44348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🔓 Unlock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423160" y="4434840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423160" y="44348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Lock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50292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override buttons let a dispatcher unlock or lock remotely at any time.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434840" y="1508760"/>
            <a:ext cx="71780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1719072"/>
            <a:ext cx="502920" cy="502920"/>
          </a:xfrm>
          <a:prstGeom prst="ellipse">
            <a:avLst/>
          </a:prstGeom>
          <a:solidFill>
            <a:srgbClr val="27A7E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663440" y="1719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✈️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5303520" y="1737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Telegram Bot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663440" y="2148840"/>
            <a:ext cx="6720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event — driver access, package loaded, locked, alerts — is pushed instantly as a message. Dispatchers can also query the bot directly: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27889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F4F6FB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663440" y="27889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/status → full delivery state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178040" y="27889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F4F6F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178040" y="27889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/location → current GPS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434840" y="3794760"/>
            <a:ext cx="71780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63440" y="4005072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663440" y="4005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5303520" y="4023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Email Alerts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4663440" y="4434840"/>
            <a:ext cx="6720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 for events that need immediate human attention — escalated beyond a chat message: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63440" y="4946904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4864608" y="483717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Opened without loading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138160" y="4946904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8339328" y="483717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missing in transit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663440" y="5404104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4864608" y="529437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unauthorized access (3+)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8138160" y="5404104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8339328" y="529437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Serious route deviation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Delivery You Can Actually Trust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273580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10312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20848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Access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2487168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recognized driver card can open the compartment — every other attempt is logged and alerted.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182880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273580"/>
          </a:solidFill>
          <a:ln/>
        </p:spPr>
      </p:sp>
      <p:sp>
        <p:nvSpPr>
          <p:cNvPr id="12" name="Shape 10"/>
          <p:cNvSpPr/>
          <p:nvPr/>
        </p:nvSpPr>
        <p:spPr>
          <a:xfrm>
            <a:off x="6446520" y="210312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4652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👁️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178040" y="20848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Visibility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7178040" y="2487168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status, location, and history are always one glance (or one message) away.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79476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273580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406908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554480" y="40507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Response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4453128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events reach the team in under a second, with critical cases escalated to email.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72200" y="379476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273580"/>
          </a:solidFill>
          <a:ln/>
        </p:spPr>
      </p:sp>
      <p:sp>
        <p:nvSpPr>
          <p:cNvPr id="24" name="Shape 22"/>
          <p:cNvSpPr/>
          <p:nvPr/>
        </p:nvSpPr>
        <p:spPr>
          <a:xfrm>
            <a:off x="6446520" y="406908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4652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44652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🧩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7178040" y="40507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Modular &amp; Extensible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7178040" y="4453128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MQTT and Node-RED, so new sensors, routes, or alert channels drop in easily.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263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2026-09-25T10:43:00Z</dcterms:created>
  <dcterms:modified xsi:type="dcterms:W3CDTF">2026-09-25T10:43:00Z</dcterms:modified>
</cp:coreProperties>
</file>